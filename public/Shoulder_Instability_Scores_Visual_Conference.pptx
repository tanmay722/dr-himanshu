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11" r:id="rId2"/>
    <p:sldId id="275" r:id="rId3"/>
    <p:sldId id="274" r:id="rId4"/>
    <p:sldId id="259" r:id="rId5"/>
    <p:sldId id="260" r:id="rId6"/>
    <p:sldId id="276" r:id="rId7"/>
    <p:sldId id="261" r:id="rId8"/>
    <p:sldId id="278" r:id="rId9"/>
    <p:sldId id="262" r:id="rId10"/>
    <p:sldId id="279" r:id="rId11"/>
    <p:sldId id="265" r:id="rId12"/>
    <p:sldId id="270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2"/>
  </p:normalViewPr>
  <p:slideViewPr>
    <p:cSldViewPr snapToGrid="0" snapToObjects="1">
      <p:cViewPr>
        <p:scale>
          <a:sx n="134" d="100"/>
          <a:sy n="134" d="100"/>
        </p:scale>
        <p:origin x="1000" y="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26B7F-07D1-8C4F-BA58-5BBACCD22F0B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C6772-92DB-8048-AC3E-E724D7FAE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4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C6772-92DB-8048-AC3E-E724D7FAEC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95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2194B-E7D6-2222-0C34-10C972D03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092" y="317572"/>
            <a:ext cx="7095279" cy="2259373"/>
          </a:xfrm>
        </p:spPr>
        <p:txBody>
          <a:bodyPr>
            <a:normAutofit/>
          </a:bodyPr>
          <a:lstStyle/>
          <a:p>
            <a:pPr marL="9525" marR="3810">
              <a:lnSpc>
                <a:spcPct val="132600"/>
              </a:lnSpc>
              <a:spcBef>
                <a:spcPts val="4"/>
              </a:spcBef>
            </a:pPr>
            <a:r>
              <a:rPr lang="en-US" sz="3000" dirty="0">
                <a:latin typeface="Trebuchet MS"/>
                <a:cs typeface="Trebuchet MS"/>
              </a:rPr>
              <a:t>Commonly used scores in shoulder instability</a:t>
            </a:r>
            <a:br>
              <a:rPr lang="en-US" sz="3000" dirty="0">
                <a:latin typeface="Trebuchet MS"/>
                <a:cs typeface="Trebuchet MS"/>
              </a:rPr>
            </a:br>
            <a:br>
              <a:rPr lang="en-US" sz="3000" dirty="0">
                <a:latin typeface="Trebuchet MS"/>
                <a:cs typeface="Trebuchet MS"/>
              </a:rPr>
            </a:br>
            <a:endParaRPr lang="en-IN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43A3A-3EE9-7210-A064-6AAB0451BE21}"/>
              </a:ext>
            </a:extLst>
          </p:cNvPr>
          <p:cNvSpPr txBox="1"/>
          <p:nvPr/>
        </p:nvSpPr>
        <p:spPr>
          <a:xfrm>
            <a:off x="4038948" y="3134492"/>
            <a:ext cx="46182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Dr Himanshu </a:t>
            </a:r>
            <a:r>
              <a:rPr lang="en-US" sz="2400" dirty="0" err="1"/>
              <a:t>Bhayana</a:t>
            </a:r>
            <a:endParaRPr lang="en-US" sz="2400" dirty="0"/>
          </a:p>
          <a:p>
            <a:r>
              <a:rPr lang="en-US" sz="2400" dirty="0"/>
              <a:t>Associate Professor</a:t>
            </a:r>
          </a:p>
          <a:p>
            <a:r>
              <a:rPr lang="en-US" sz="2400" dirty="0"/>
              <a:t>PGI Chandigarh</a:t>
            </a:r>
          </a:p>
          <a:p>
            <a:endParaRPr lang="en-US" sz="2400" dirty="0"/>
          </a:p>
          <a:p>
            <a:r>
              <a:rPr lang="en-US" sz="2400" dirty="0"/>
              <a:t>Sports Surgery</a:t>
            </a:r>
          </a:p>
          <a:p>
            <a:r>
              <a:rPr lang="en-US" sz="2400" dirty="0"/>
              <a:t>Shoulder/ Knee Surgery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5FD40F-4F79-4494-3F80-86838692A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53" y="3267437"/>
            <a:ext cx="3136900" cy="291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47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ADB676-8BDB-3585-8BAF-CEB0E2CE9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614" t="21674" r="28583" b="13880"/>
          <a:stretch/>
        </p:blipFill>
        <p:spPr>
          <a:xfrm>
            <a:off x="3379808" y="274638"/>
            <a:ext cx="5162308" cy="625348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E58F13-A723-B985-FDEA-B47060EBCE80}"/>
              </a:ext>
            </a:extLst>
          </p:cNvPr>
          <p:cNvSpPr txBox="1"/>
          <p:nvPr/>
        </p:nvSpPr>
        <p:spPr>
          <a:xfrm>
            <a:off x="601885" y="3849073"/>
            <a:ext cx="289367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 b="1"/>
            </a:pPr>
            <a:r>
              <a:rPr lang="en-IN" dirty="0"/>
              <a:t>Score: 0–100</a:t>
            </a:r>
          </a:p>
          <a:p>
            <a:pPr>
              <a:defRPr sz="2800" b="1"/>
            </a:pPr>
            <a:r>
              <a:rPr lang="en-IN" dirty="0"/>
              <a:t>Higher = Better outcome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07B17-66BD-A744-192B-746DE297F60E}"/>
              </a:ext>
            </a:extLst>
          </p:cNvPr>
          <p:cNvSpPr txBox="1"/>
          <p:nvPr/>
        </p:nvSpPr>
        <p:spPr>
          <a:xfrm>
            <a:off x="376177" y="846138"/>
            <a:ext cx="457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dirty="0"/>
              <a:t>Rowe Score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48353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D7FE-0F12-4968-55AA-E8CAAEC0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1536-8A68-9EB3-E119-A08856A10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Clinician-based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A0A0A"/>
                </a:solidFill>
                <a:effectLst/>
                <a:latin typeface="Google Sans"/>
              </a:rPr>
              <a:t>Stability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Assesses recurrent dislocations, subluxations, and apprehension (fear of dislocation).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A0A0A"/>
                </a:solidFill>
                <a:effectLst/>
                <a:latin typeface="Google Sans"/>
              </a:rPr>
              <a:t>Motion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Measures range of motion (elevation, rotation) compared to the unaffected shoulder.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A0A0A"/>
                </a:solidFill>
                <a:effectLst/>
                <a:latin typeface="Google Sans"/>
              </a:rPr>
              <a:t>Function :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 Evaluates ability to perform daily activities (ADLs).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64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Western Ontario Shoulder Instability Index (WOSI)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2800" b="1"/>
            </a:pPr>
            <a:r>
              <a:rPr dirty="0"/>
              <a:t>Quality of life based</a:t>
            </a:r>
            <a:endParaRPr lang="en-US" dirty="0"/>
          </a:p>
          <a:p>
            <a:pPr>
              <a:defRPr sz="2800" b="1"/>
            </a:pPr>
            <a:endParaRPr dirty="0"/>
          </a:p>
          <a:p>
            <a:pPr>
              <a:defRPr sz="2800" b="1"/>
            </a:pPr>
            <a:r>
              <a:rPr dirty="0"/>
              <a:t>Sport, lifestyle, emotions</a:t>
            </a:r>
            <a:endParaRPr lang="en-US" dirty="0"/>
          </a:p>
          <a:p>
            <a:pPr>
              <a:defRPr sz="2800" b="1"/>
            </a:pPr>
            <a:endParaRPr dirty="0"/>
          </a:p>
          <a:p>
            <a:pPr>
              <a:defRPr sz="2800" b="1"/>
            </a:pPr>
            <a:r>
              <a:rPr lang="en-US" dirty="0"/>
              <a:t>Total 21 Questions</a:t>
            </a:r>
          </a:p>
          <a:p>
            <a:r>
              <a:rPr lang="en-IN" b="1" dirty="0"/>
              <a:t>0%</a:t>
            </a:r>
            <a:r>
              <a:rPr lang="en-IN" dirty="0"/>
              <a:t> → Best possible outcome</a:t>
            </a:r>
          </a:p>
          <a:p>
            <a:r>
              <a:rPr lang="en-IN" b="1" dirty="0"/>
              <a:t>100%</a:t>
            </a:r>
            <a:r>
              <a:rPr lang="en-IN" dirty="0"/>
              <a:t> → Worst possible outcome</a:t>
            </a:r>
          </a:p>
          <a:p>
            <a:pPr>
              <a:defRPr sz="2800" b="1"/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Oxford Shoulder Instability Score (OSIS)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800" b="1"/>
            </a:pPr>
            <a:r>
              <a:rPr dirty="0"/>
              <a:t>Patient-reported outcome</a:t>
            </a:r>
          </a:p>
          <a:p>
            <a:pPr>
              <a:defRPr sz="2800" b="1"/>
            </a:pPr>
            <a:r>
              <a:rPr dirty="0"/>
              <a:t>12 questions</a:t>
            </a:r>
          </a:p>
          <a:p>
            <a:pPr>
              <a:defRPr sz="2800" b="1"/>
            </a:pPr>
            <a:r>
              <a:rPr dirty="0"/>
              <a:t>Score: 0–48</a:t>
            </a:r>
            <a:endParaRPr lang="en-US" dirty="0"/>
          </a:p>
          <a:p>
            <a:pPr>
              <a:defRPr sz="2800" b="1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question has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response options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(graded severity 0-4</a:t>
            </a:r>
          </a:p>
          <a:p>
            <a:pPr>
              <a:defRPr sz="2800" b="1"/>
            </a:pPr>
            <a:endParaRPr lang="en-US" dirty="0"/>
          </a:p>
          <a:p>
            <a:pPr>
              <a:defRPr sz="2800" b="1"/>
            </a:pPr>
            <a:endParaRPr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D0AF24A-7439-FDB4-DD9A-AF3A200A3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865" y="4916892"/>
            <a:ext cx="48077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score range: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to 48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➡️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score = better shoulder function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63A99-D141-3D20-1D0D-E13156004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Shoulder instability score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AA8488-AC48-53AB-4110-44655DB479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1263554"/>
              </p:ext>
            </p:extLst>
          </p:nvPr>
        </p:nvGraphicFramePr>
        <p:xfrm>
          <a:off x="457201" y="1417639"/>
          <a:ext cx="4600935" cy="5303520"/>
        </p:xfrm>
        <a:graphic>
          <a:graphicData uri="http://schemas.openxmlformats.org/drawingml/2006/table">
            <a:tbl>
              <a:tblPr/>
              <a:tblGrid>
                <a:gridCol w="1533645">
                  <a:extLst>
                    <a:ext uri="{9D8B030D-6E8A-4147-A177-3AD203B41FA5}">
                      <a16:colId xmlns:a16="http://schemas.microsoft.com/office/drawing/2014/main" val="2448305837"/>
                    </a:ext>
                  </a:extLst>
                </a:gridCol>
                <a:gridCol w="1533645">
                  <a:extLst>
                    <a:ext uri="{9D8B030D-6E8A-4147-A177-3AD203B41FA5}">
                      <a16:colId xmlns:a16="http://schemas.microsoft.com/office/drawing/2014/main" val="3018938784"/>
                    </a:ext>
                  </a:extLst>
                </a:gridCol>
                <a:gridCol w="1533645">
                  <a:extLst>
                    <a:ext uri="{9D8B030D-6E8A-4147-A177-3AD203B41FA5}">
                      <a16:colId xmlns:a16="http://schemas.microsoft.com/office/drawing/2014/main" val="2339115948"/>
                    </a:ext>
                  </a:extLst>
                </a:gridCol>
              </a:tblGrid>
              <a:tr h="290303">
                <a:tc>
                  <a:txBody>
                    <a:bodyPr/>
                    <a:lstStyle/>
                    <a:p>
                      <a:r>
                        <a:rPr lang="en-IN" b="1"/>
                        <a:t>Parameter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Criteria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Score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0974386"/>
                  </a:ext>
                </a:extLst>
              </a:tr>
              <a:tr h="264382">
                <a:tc>
                  <a:txBody>
                    <a:bodyPr/>
                    <a:lstStyle/>
                    <a:p>
                      <a:r>
                        <a:rPr lang="en-IN" b="1"/>
                        <a:t>Age at surgery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≤ 20 years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189287"/>
                  </a:ext>
                </a:extLst>
              </a:tr>
              <a:tr h="264382">
                <a:tc>
                  <a:txBody>
                    <a:bodyPr/>
                    <a:lstStyle/>
                    <a:p>
                      <a:r>
                        <a:rPr lang="en-IN" b="1" dirty="0"/>
                        <a:t>Sports participation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Competitive sports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194154"/>
                  </a:ext>
                </a:extLst>
              </a:tr>
              <a:tr h="4626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Contact or overhead sports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821801"/>
                  </a:ext>
                </a:extLst>
              </a:tr>
              <a:tr h="264382">
                <a:tc>
                  <a:txBody>
                    <a:bodyPr/>
                    <a:lstStyle/>
                    <a:p>
                      <a:r>
                        <a:rPr lang="en-IN" b="1"/>
                        <a:t>Shoulder hyperlaxity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892363"/>
                  </a:ext>
                </a:extLst>
              </a:tr>
              <a:tr h="462669">
                <a:tc>
                  <a:txBody>
                    <a:bodyPr/>
                    <a:lstStyle/>
                    <a:p>
                      <a:r>
                        <a:rPr lang="en-IN" b="1"/>
                        <a:t>Hill-Sachs lesion (AP X-ray)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615530"/>
                  </a:ext>
                </a:extLst>
              </a:tr>
              <a:tr h="462669">
                <a:tc>
                  <a:txBody>
                    <a:bodyPr/>
                    <a:lstStyle/>
                    <a:p>
                      <a:r>
                        <a:rPr lang="en-IN" b="1"/>
                        <a:t>Glenoid bone loss (AP X-ray)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Loss of inferior glenoid contour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7717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B75F0E-E0CE-BDC4-E7C5-ECE175FDD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56330"/>
              </p:ext>
            </p:extLst>
          </p:nvPr>
        </p:nvGraphicFramePr>
        <p:xfrm>
          <a:off x="4572001" y="2196615"/>
          <a:ext cx="3854370" cy="3104590"/>
        </p:xfrm>
        <a:graphic>
          <a:graphicData uri="http://schemas.openxmlformats.org/drawingml/2006/table">
            <a:tbl>
              <a:tblPr/>
              <a:tblGrid>
                <a:gridCol w="1284790">
                  <a:extLst>
                    <a:ext uri="{9D8B030D-6E8A-4147-A177-3AD203B41FA5}">
                      <a16:colId xmlns:a16="http://schemas.microsoft.com/office/drawing/2014/main" val="4181289060"/>
                    </a:ext>
                  </a:extLst>
                </a:gridCol>
                <a:gridCol w="1284790">
                  <a:extLst>
                    <a:ext uri="{9D8B030D-6E8A-4147-A177-3AD203B41FA5}">
                      <a16:colId xmlns:a16="http://schemas.microsoft.com/office/drawing/2014/main" val="2734793218"/>
                    </a:ext>
                  </a:extLst>
                </a:gridCol>
                <a:gridCol w="1284790">
                  <a:extLst>
                    <a:ext uri="{9D8B030D-6E8A-4147-A177-3AD203B41FA5}">
                      <a16:colId xmlns:a16="http://schemas.microsoft.com/office/drawing/2014/main" val="502626925"/>
                    </a:ext>
                  </a:extLst>
                </a:gridCol>
              </a:tblGrid>
              <a:tr h="800841">
                <a:tc>
                  <a:txBody>
                    <a:bodyPr/>
                    <a:lstStyle/>
                    <a:p>
                      <a:r>
                        <a:rPr lang="en-IN" b="1"/>
                        <a:t>ISIS Score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Risk 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1561392"/>
                  </a:ext>
                </a:extLst>
              </a:tr>
              <a:tr h="751454">
                <a:tc>
                  <a:txBody>
                    <a:bodyPr/>
                    <a:lstStyle/>
                    <a:p>
                      <a:r>
                        <a:rPr lang="en-IN" b="1" dirty="0"/>
                        <a:t>0–3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 risk (&lt;10%)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2952703"/>
                  </a:ext>
                </a:extLst>
              </a:tr>
              <a:tr h="751454">
                <a:tc>
                  <a:txBody>
                    <a:bodyPr/>
                    <a:lstStyle/>
                    <a:p>
                      <a:r>
                        <a:rPr lang="en-IN" b="1"/>
                        <a:t>4–6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Moderate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958928"/>
                  </a:ext>
                </a:extLst>
              </a:tr>
              <a:tr h="800841">
                <a:tc>
                  <a:txBody>
                    <a:bodyPr/>
                    <a:lstStyle/>
                    <a:p>
                      <a:r>
                        <a:rPr lang="en-IN" b="1"/>
                        <a:t>&gt;6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 risk (≥70%)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198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935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ASES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American Shoulder and Elbow Surgeons Score</a:t>
            </a:r>
            <a:endParaRPr dirty="0"/>
          </a:p>
          <a:p>
            <a:pPr>
              <a:defRPr sz="2800" b="1"/>
            </a:pPr>
            <a:r>
              <a:rPr dirty="0"/>
              <a:t>Pain + Function</a:t>
            </a:r>
          </a:p>
          <a:p>
            <a:pPr>
              <a:defRPr sz="2800" b="1"/>
            </a:pPr>
            <a:r>
              <a:rPr dirty="0"/>
              <a:t>Score: 0–100</a:t>
            </a:r>
            <a:endParaRPr lang="en-US" dirty="0"/>
          </a:p>
          <a:p>
            <a:pPr>
              <a:defRPr sz="2800" b="1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3C9D8-1068-41F5-7FA8-B9C24C174213}"/>
              </a:ext>
            </a:extLst>
          </p:cNvPr>
          <p:cNvSpPr txBox="1"/>
          <p:nvPr/>
        </p:nvSpPr>
        <p:spPr>
          <a:xfrm>
            <a:off x="457200" y="3429000"/>
            <a:ext cx="67075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Pain Component (50 points)</a:t>
            </a:r>
          </a:p>
          <a:p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Assessed using </a:t>
            </a:r>
            <a:r>
              <a:rPr lang="en-IN" b="1" dirty="0"/>
              <a:t>VAS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Patient rates pain from </a:t>
            </a:r>
            <a:r>
              <a:rPr lang="en-IN" b="1" dirty="0"/>
              <a:t>0 - 10 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Scoring formula:  </a:t>
            </a:r>
            <a:r>
              <a:rPr lang="en-IN" dirty="0"/>
              <a:t>=.  ( 10−VAS pain)×5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F0CC-1A18-7C6E-6DB4-1F2F5DD12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3D51D-D0C3-58E3-DACF-9AF4DFF1EEE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6686550" cy="3360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Function Component – ADL (50 points)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10 daily activities</a:t>
            </a:r>
            <a:r>
              <a:rPr lang="en-IN" sz="1800" dirty="0"/>
              <a:t>, each scored from: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/>
              <a:t>0 = Unable to do</a:t>
            </a:r>
            <a:endParaRPr lang="en-IN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/>
              <a:t>3 = No difficulty </a:t>
            </a:r>
            <a:endParaRPr lang="en-IN" sz="1800" dirty="0"/>
          </a:p>
          <a:p>
            <a:r>
              <a:rPr lang="en-IN" sz="1800" b="1" dirty="0"/>
              <a:t>Activities include: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Putting on a coat ; Sleeping on affected side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Washing back;  Combing hair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Reaching a high shelf ;  Lifting 10 lb (4.5 kg) above shoulder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Throwing a ball;  Usual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Sports / recreational activity</a:t>
            </a:r>
          </a:p>
        </p:txBody>
      </p:sp>
    </p:spTree>
    <p:extLst>
      <p:ext uri="{BB962C8B-B14F-4D97-AF65-F5344CB8AC3E}">
        <p14:creationId xmlns:p14="http://schemas.microsoft.com/office/powerpoint/2010/main" val="3045029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Walch–</a:t>
            </a:r>
            <a:r>
              <a:rPr dirty="0" err="1"/>
              <a:t>Duplay</a:t>
            </a:r>
            <a:r>
              <a:rPr dirty="0"/>
              <a:t>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rPr dirty="0"/>
              <a:t>Pain, Stability, Sports, Mobility</a:t>
            </a:r>
          </a:p>
          <a:p>
            <a:pPr>
              <a:defRPr sz="2800" b="1"/>
            </a:pPr>
            <a:r>
              <a:rPr dirty="0"/>
              <a:t>Score: 0–100</a:t>
            </a:r>
            <a:endParaRPr lang="en-US" dirty="0"/>
          </a:p>
          <a:p>
            <a:pPr>
              <a:defRPr sz="2800" b="1"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ED7F8D-47BE-25DF-05F9-36D4CFD5D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468395"/>
              </p:ext>
            </p:extLst>
          </p:nvPr>
        </p:nvGraphicFramePr>
        <p:xfrm>
          <a:off x="457200" y="2948780"/>
          <a:ext cx="8229600" cy="25757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88103231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846087796"/>
                    </a:ext>
                  </a:extLst>
                </a:gridCol>
              </a:tblGrid>
              <a:tr h="515144">
                <a:tc>
                  <a:txBody>
                    <a:bodyPr/>
                    <a:lstStyle/>
                    <a:p>
                      <a:r>
                        <a:rPr lang="en-IN"/>
                        <a:t>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What it Assesses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780527"/>
                  </a:ext>
                </a:extLst>
              </a:tr>
              <a:tr h="515144">
                <a:tc>
                  <a:txBody>
                    <a:bodyPr/>
                    <a:lstStyle/>
                    <a:p>
                      <a:r>
                        <a:rPr lang="en-IN" b="1"/>
                        <a:t>Pain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Presence and severity of shoulder pain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200275"/>
                  </a:ext>
                </a:extLst>
              </a:tr>
              <a:tr h="515144">
                <a:tc>
                  <a:txBody>
                    <a:bodyPr/>
                    <a:lstStyle/>
                    <a:p>
                      <a:r>
                        <a:rPr lang="en-IN" b="1"/>
                        <a:t>Stability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Recurrence of dislocation/subluxation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9424"/>
                  </a:ext>
                </a:extLst>
              </a:tr>
              <a:tr h="515144">
                <a:tc>
                  <a:txBody>
                    <a:bodyPr/>
                    <a:lstStyle/>
                    <a:p>
                      <a:r>
                        <a:rPr lang="en-IN" b="1"/>
                        <a:t>Mobility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Range of motion compared to normal side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9235308"/>
                  </a:ext>
                </a:extLst>
              </a:tr>
              <a:tr h="515144">
                <a:tc>
                  <a:txBody>
                    <a:bodyPr/>
                    <a:lstStyle/>
                    <a:p>
                      <a:r>
                        <a:rPr lang="en-IN" b="1"/>
                        <a:t>Return to Sport/Activity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Ability to resume previous activity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77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494912-E228-1E4B-DA57-18C9A7F37365}"/>
              </a:ext>
            </a:extLst>
          </p:cNvPr>
          <p:cNvSpPr txBox="1"/>
          <p:nvPr/>
        </p:nvSpPr>
        <p:spPr>
          <a:xfrm>
            <a:off x="523875" y="967680"/>
            <a:ext cx="28670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Pain (0–25)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pain → </a:t>
            </a:r>
            <a:r>
              <a:rPr lang="en-IN" b="1" dirty="0"/>
              <a:t>25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Occasional pain → </a:t>
            </a:r>
            <a:r>
              <a:rPr lang="en-IN" b="1" dirty="0"/>
              <a:t>20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Pain with activity → </a:t>
            </a:r>
            <a:r>
              <a:rPr lang="en-IN" b="1" dirty="0"/>
              <a:t>10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Severe/constant pain → </a:t>
            </a:r>
            <a:r>
              <a:rPr lang="en-IN" b="1" dirty="0"/>
              <a:t>0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4B1D3E-7724-5794-E786-A03686C2932F}"/>
              </a:ext>
            </a:extLst>
          </p:cNvPr>
          <p:cNvSpPr txBox="1"/>
          <p:nvPr/>
        </p:nvSpPr>
        <p:spPr>
          <a:xfrm>
            <a:off x="4133850" y="967680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 Stability (0–25)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instability → </a:t>
            </a:r>
            <a:r>
              <a:rPr lang="en-IN" b="1" dirty="0"/>
              <a:t>25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Apprehension only → </a:t>
            </a:r>
            <a:r>
              <a:rPr lang="en-IN" b="1" dirty="0"/>
              <a:t>15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Subluxation → </a:t>
            </a:r>
            <a:r>
              <a:rPr lang="en-IN" b="1" dirty="0"/>
              <a:t>5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Recurrent dislocation → </a:t>
            </a:r>
            <a:r>
              <a:rPr lang="en-IN" b="1" dirty="0"/>
              <a:t>0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4A5D8-C412-8675-80C6-32D3E5000FC2}"/>
              </a:ext>
            </a:extLst>
          </p:cNvPr>
          <p:cNvSpPr txBox="1"/>
          <p:nvPr/>
        </p:nvSpPr>
        <p:spPr>
          <a:xfrm>
            <a:off x="523875" y="3498220"/>
            <a:ext cx="32956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 Mobility (0–25)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Normal ROM → </a:t>
            </a:r>
            <a:r>
              <a:rPr lang="en-IN" b="1" dirty="0"/>
              <a:t>25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Slight limitation → </a:t>
            </a:r>
            <a:r>
              <a:rPr lang="en-IN" b="1" dirty="0"/>
              <a:t>20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Moderate limitation → </a:t>
            </a:r>
            <a:r>
              <a:rPr lang="en-IN" b="1" dirty="0"/>
              <a:t>10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Severe limitation → </a:t>
            </a:r>
            <a:r>
              <a:rPr lang="en-IN" b="1" dirty="0"/>
              <a:t>0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09412-847B-9EAB-C320-973387230FE8}"/>
              </a:ext>
            </a:extLst>
          </p:cNvPr>
          <p:cNvSpPr txBox="1"/>
          <p:nvPr/>
        </p:nvSpPr>
        <p:spPr>
          <a:xfrm>
            <a:off x="4735607" y="3715330"/>
            <a:ext cx="336848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4. Return to Sport/Activity (0–25)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Same level as before injury → </a:t>
            </a:r>
            <a:r>
              <a:rPr lang="en-IN" b="1" dirty="0"/>
              <a:t>25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Slightly reduced → </a:t>
            </a:r>
            <a:r>
              <a:rPr lang="en-IN" b="1" dirty="0"/>
              <a:t>20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Recreational only → </a:t>
            </a:r>
            <a:r>
              <a:rPr lang="en-IN" b="1" dirty="0"/>
              <a:t>10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Unable to return → </a:t>
            </a:r>
            <a:r>
              <a:rPr lang="en-IN" b="1" dirty="0"/>
              <a:t>0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89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 Home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800" b="1"/>
            </a:pPr>
            <a:r>
              <a:t>Use multiple scores</a:t>
            </a:r>
          </a:p>
          <a:p>
            <a:pPr>
              <a:defRPr sz="2800" b="1"/>
            </a:pPr>
            <a:r>
              <a:t>Combine patient-reported and objective measures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0433" y="131445"/>
            <a:ext cx="37572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dirty="0"/>
              <a:t>Scores at a Glance 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433" y="704849"/>
            <a:ext cx="3657600" cy="6463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rPr dirty="0"/>
              <a:t>Rowe → Stability focused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rPr dirty="0"/>
              <a:t>WOSI → Quality of life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rPr dirty="0"/>
              <a:t>OSIS → Patient-reported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6344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ASES → Pain + function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8640C-8371-58EB-4A8E-A8B53B275D61}"/>
              </a:ext>
            </a:extLst>
          </p:cNvPr>
          <p:cNvSpPr/>
          <p:nvPr/>
        </p:nvSpPr>
        <p:spPr>
          <a:xfrm>
            <a:off x="640080" y="1639668"/>
            <a:ext cx="3657600" cy="646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rPr lang="en-US" dirty="0"/>
              <a:t>SIS: Risk of Recurrence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Which Score to Use?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Clinical outcome → Rowe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Research / QoL → WOSI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OPD follow-up → 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6344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/>
            </a:pPr>
            <a:r>
              <a:t>Combined assessment → 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524</Words>
  <Application>Microsoft Macintosh PowerPoint</Application>
  <PresentationFormat>On-screen Show (4:3)</PresentationFormat>
  <Paragraphs>131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Google Sans</vt:lpstr>
      <vt:lpstr>Trebuchet MS</vt:lpstr>
      <vt:lpstr>Office Theme</vt:lpstr>
      <vt:lpstr>Commonly used scores in shoulder instability  </vt:lpstr>
      <vt:lpstr>PowerPoint Presentation</vt:lpstr>
      <vt:lpstr>PowerPoint Presentation</vt:lpstr>
      <vt:lpstr>Western Ontario Shoulder Instability Index (WOSI)</vt:lpstr>
      <vt:lpstr>Oxford Shoulder Instability Score (OSIS)</vt:lpstr>
      <vt:lpstr>Shoulder instability score </vt:lpstr>
      <vt:lpstr>ASES Score</vt:lpstr>
      <vt:lpstr>PowerPoint Presentation</vt:lpstr>
      <vt:lpstr>Walch–Duplay Score</vt:lpstr>
      <vt:lpstr>PowerPoint Presentation</vt:lpstr>
      <vt:lpstr>Take Home Message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Shoulder Instability Outcome Scores &amp; Arthroscopy</dc:title>
  <dc:subject/>
  <dc:creator/>
  <cp:keywords/>
  <dc:description>generated using python-pptx</dc:description>
  <cp:lastModifiedBy>Microsoft Office User</cp:lastModifiedBy>
  <cp:revision>5</cp:revision>
  <dcterms:created xsi:type="dcterms:W3CDTF">2013-01-27T09:14:16Z</dcterms:created>
  <dcterms:modified xsi:type="dcterms:W3CDTF">2025-12-22T09:55:24Z</dcterms:modified>
  <cp:category/>
</cp:coreProperties>
</file>